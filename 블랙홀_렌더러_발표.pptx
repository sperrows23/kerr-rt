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저는 이번에 '블랙홀을 진짜 물리 법칙대로 계산해서 그리는 프로그램'을 직접 만들었고, 오늘 그 과정을 발표하려고 합니다.</a:t>
            </a:r>
          </a:p>
          <a:p/>
          <a:p>
            <a:r>
              <a:t>지금 화면에 보이는 이 이미지는 인터넷에서 가져온 게 아니라, 제가 만든 프로그램이 계산해서 출력한 결과입니다. 이 그림의 모든 픽셀은 빛이 휘어진 시공간을 지나온 경로를 실제로 계산한 결과입니다.</a:t>
            </a:r>
          </a:p>
          <a:p/>
          <a:p>
            <a:r>
              <a:t>오늘은 이걸 어떻게 만들었는지, 그리고 그 과정에서 배운 물리를 이야기하겠습니다.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발표는 크게 다섯 부분입니다.</a:t>
            </a:r>
          </a:p>
          <a:p/>
          <a:p>
            <a:r>
              <a:t>먼저 왜 이걸 만들었는지, 그다음 핵심 원리를 아주 간단하게 설명하고, 블랙홀에서 실제로 일어나는 물리 현상 네 가지를 그림으로 보여드리겠습니다. 그리고 제가 이걸 어떻게 만들었는지, 어디서 막혔는지를 이야기하고, 마지막으로 결과와 배운 점으로 마무리하겠습니다.</a:t>
            </a:r>
          </a:p>
          <a:p/>
          <a:p>
            <a:r>
              <a:t>물리 이야기 반, 만든 과정 이야기 반이라고 생각하시면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블랙홀 사진이나 영화 장면, 많이 보셨을 겁니다. 그런데 그 대부분은 사실 '그림'입니다. 예술가가 그럴듯해 보이게 손으로 칠한 거예요.</a:t>
            </a:r>
          </a:p>
          <a:p/>
          <a:p>
            <a:r>
              <a:t>저는 반대로 하고 싶었습니다. 물리 법칙만 컴퓨터에 넣어주고, 빛이 어디로 갈지를 실제로 계산해서, 그림이 저절로 나오게 만드는 것.</a:t>
            </a:r>
          </a:p>
          <a:p/>
          <a:p>
            <a:r>
              <a:t>그러니까 여기 오른쪽에 보이는 저 고리 모양이나, 한쪽만 밝은 것, 원반이 위로 휘어 보이는 것 — 이걸 제가 그린 게 아닙니다. 방정식을 풀었더니 저렇게 나온 겁니다. 그게 이 프로젝트의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원리는 의외로 단순합니다.</a:t>
            </a:r>
          </a:p>
          <a:p/>
          <a:p>
            <a:r>
              <a:t>현실에서는 빛이 별에서 출발해서 우리 눈으로 들어옵니다. 그런데 컴퓨터로 그림을 그릴 때 그렇게 하면, 화면에 도달하지 못하고 버려지는 빛이 너무 많아서 엄청나게 낭비예요.</a:t>
            </a:r>
          </a:p>
          <a:p/>
          <a:p>
            <a:r>
              <a:t>그래서 거꾸로 합니다. 화면의 픽셀 하나에서 광선을 하나 쏴서, 그 빛이 어디서 왔는지를 거꾸로 추적합니다. 빛의 경로는 시간을 뒤집어도 똑같기 때문에 이렇게 해도 결과가 같습니다.</a:t>
            </a:r>
          </a:p>
          <a:p/>
          <a:p>
            <a:r>
              <a:t>그러면 세 가지 결말이 있습니다. 빨간 선처럼 블랙홀에 삼켜지면 그 픽셀은 검은색이 됩니다. 이게 우리가 보는 '블랙홀의 그림자'예요. 주황색처럼 아주 강하게 휘면 광자 링이라는 밝은 고리가 만들어지고, 파란색처럼 살짝 휘면 뒤쪽 별빛이 그냥 도착합니다.</a:t>
            </a:r>
          </a:p>
          <a:p/>
          <a:p>
            <a:r>
              <a:t>이 계산을 픽셀 800만 개에 대해 전부 하는 겁니다. 그래서 GPU가 필요했습니다.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블랙홀 물리에서 가장 중요한 개념부터 갑니다.</a:t>
            </a:r>
          </a:p>
          <a:p/>
          <a:p>
            <a:r>
              <a:t>우리는 보통 중력을 '당기는 힘'이라고 배웁니다. 그런데 일반상대성이론에서는 다르게 봅니다. 질량이 있으면 그 주변의 시공간, 즉 공간과 시간 자체가 휘어집니다. 그리고 빛은 그 휘어진 공간에서 자기 딴에는 똑바로 가고 있는 겁니다.</a:t>
            </a:r>
          </a:p>
          <a:p/>
          <a:p>
            <a:r>
              <a:t>비유하자면, 트램펄린 가운데에 볼링공을 올려놓고 구슬을 굴리면 구슬이 휘어져 굴러가죠. 구슬은 직진하고 있는데 바닥이 휘어 있어서 그렇게 보이는 겁니다.</a:t>
            </a:r>
          </a:p>
          <a:p/>
          <a:p>
            <a:r>
              <a:t>오른쪽 이미지를 봐 주세요. 이건 원반을 아예 끄고 블랙홀과 배경 별만 렌더링한 겁니다. 블랙홀 주변으로 은하수가 둥글게 끌려서 늘어나 있는 게 보이시나요? 원래 저기 있으면 안 되는 빛인데, 블랙홀이 공간을 휘어놔서 빛이 돌아 나온 겁니다.</a:t>
            </a:r>
          </a:p>
          <a:p/>
          <a:p>
            <a:r>
              <a:t>이걸 중력 렌즈 효과라고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블랙홀이 회전하면 무슨 일이 일어날까요?</a:t>
            </a:r>
          </a:p>
          <a:p/>
          <a:p>
            <a:r>
              <a:t>왼쪽은 회전하지 않는 블랙홀입니다. 여기서는 가스가 안정적으로 돌 수 있는 가장 안쪽 궤도, ISCO라고 부르는데, 그게 6M 지점입니다. 그것보다 안쪽으로는 가스가 궤도를 유지하지 못하고 그냥 떨어져 버려요. 그래서 원반이 멀찍이 떨어져 있습니다.</a:t>
            </a:r>
          </a:p>
          <a:p/>
          <a:p>
            <a:r>
              <a:t>오른쪽은 제 블랙홀입니다. 이론상 가능한 최대 회전의 99.9%로 돌고 있어요. 그랬더니 ISCO가 6M에서 1.18M로, 다섯 배 넘게 줄어듭니다. 원반이 블랙홀에 거의 달라붙는 거죠.</a:t>
            </a:r>
          </a:p>
          <a:p/>
          <a:p>
            <a:r>
              <a:t>이게 왜 중요하냐면, 가까울수록 더 빨리 돌고, 더 뜨거워지고, 빛이 더 심하게 휘어집니다. 즉 회전을 극한으로 올려야 우리가 아는 그 극적인 블랙홀 그림이 나옵니다.</a:t>
            </a:r>
          </a:p>
          <a:p/>
          <a:p>
            <a:r>
              <a:t>참고로 회전하는 블랙홀은 주변 시공간 자체를 끌고 돕니다. 이걸 '프레임 끌림'이라고 하는데, 이것까지 계산에 다 들어가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제일 눈에 띄는 현상입니다. 왜 원반의 한쪽만 밝을까요?</a:t>
            </a:r>
          </a:p>
          <a:p/>
          <a:p>
            <a:r>
              <a:t>원반의 가스는 블랙홀 바로 옆에서 빛의 속도에 가깝게 돌고 있습니다. 그러면 특수상대성이론의 효과가 나타납니다.</a:t>
            </a:r>
          </a:p>
          <a:p/>
          <a:p>
            <a:r>
              <a:t>우리 쪽으로 다가오는 쪽의 가스는, 빛이 진행 방향으로 몰리면서 훨씬 밝아 보입니다. 반대로 멀어지는 쪽은 어두워집니다. 이걸 도플러 빔잉이라고 합니다.</a:t>
            </a:r>
          </a:p>
          <a:p/>
          <a:p>
            <a:r>
              <a:t>중요한 건 이게 살짝 밝아지는 정도가 아니라는 겁니다. 밝기가 속도 인자의 네제곱에 비례해서 증폭됩니다. 그래서 제 렌더 결과에서는 오른쪽이 왼쪽보다 약 4.3배 밝게 나옵니다.</a:t>
            </a:r>
          </a:p>
          <a:p/>
          <a:p>
            <a:r>
              <a:t>다시 강조하면, 저는 '오른쪽을 밝게 칠해라'라고 코딩한 적이 없습니다. 상대성이론 공식을 넣었더니 저절로 저렇게 나온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영화 인터스텔라를 보신 분은 원반이 블랙홀 위로 아치처럼 휘어 올라가는 장면을 기억하실 겁니다. 왜 그럴까요?</a:t>
            </a:r>
          </a:p>
          <a:p/>
          <a:p>
            <a:r>
              <a:t>원반 자체는 그냥 평평한 접시입니다. 절대 휘어 있지 않아요.</a:t>
            </a:r>
          </a:p>
          <a:p/>
          <a:p>
            <a:r>
              <a:t>그런데 블랙홀 뒤쪽에 있는 원반에서 나온 빛이, 블랙홀 위를 넘어서 우리 쪽으로 휘어 들어옵니다. 왼쪽 그림의 파란 선이 그겁니다. 원래대로라면 블랙홀에 가려서 안 보여야 할 뒤쪽 원반이, 블랙홀 위에 얹혀 있는 것처럼 보이게 되는 거죠.</a:t>
            </a:r>
          </a:p>
          <a:p/>
          <a:p>
            <a:r>
              <a:t>오른쪽 아래에 보이는 호는 원반의 '밑면'입니다. 빛이 아래로 돌아 나와서 원반을 밑에서 본 모습입니다.</a:t>
            </a:r>
          </a:p>
          <a:p/>
          <a:p>
            <a:r>
              <a:t>그러니까 우리는 하나의 원반을 동시에 위, 뒤, 아래에서 보고 있는 겁니다. 이것도 물론 제가 그린 게 아니라 계산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어떻게 만드는지 보겠습니다. 크게 세 단계입니다.</a:t>
            </a:r>
          </a:p>
          <a:p/>
          <a:p>
            <a:r>
              <a:t>1단계는 Blender라는 3D 프로그램에서 우주선을 애니메이션하고, 카메라가 매 프레임 어디에 있는지 좌표를 뽑아냅니다.</a:t>
            </a:r>
          </a:p>
          <a:p/>
          <a:p>
            <a:r>
              <a:t>2단계가 이 프로젝트의 심장입니다. 제가 직접 만든 부분이에요. 아까 말한 광선 추적을 여기서 합니다. 카메라 좌표를 받아서, 픽셀마다 광선을 쏘고, 빛의 경로를 계산해서 블랙홀과 원반 이미지를 만듭니다.</a:t>
            </a:r>
          </a:p>
          <a:p/>
          <a:p>
            <a:r>
              <a:t>3단계는 다시 Blender에서 우주선 영상과 블랙홀 영상을 합치고, 빛 번짐 같은 효과를 넣습니다.</a:t>
            </a:r>
          </a:p>
          <a:p/>
          <a:p>
            <a:r>
              <a:t>2단계가 왜 어렵냐면, 픽셀 하나당 수천 번씩 미분방정식을 풀어야 하는데 픽셀이 800만 개거든요. CPU로는 며칠이 걸립니다. 그래서 GPU에서 수천 개를 동시에 계산하도록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개발 기간은 24일, 코드를 저장한 횟수는 26번이었습니다.</a:t>
            </a:r>
          </a:p>
          <a:p/>
          <a:p>
            <a:r>
              <a:t>처음 이틀 만에 빛의 경로를 푸는 핵심 계산기가 돌아갔고, 광자 링이 화면에 처음 나타났을 때가 제일 짜릿했습니다.</a:t>
            </a:r>
          </a:p>
          <a:p/>
          <a:p>
            <a:r>
              <a:t>그다음 며칠은 검증 체계를 만드는 데 썼습니다. 이게 지루하지만 제일 중요했어요. 왜 그런지는 다음 장에서 설명하겠습니다.</a:t>
            </a:r>
          </a:p>
          <a:p/>
          <a:p>
            <a:r>
              <a:t>6월 7일에 큰 사고가 있었습니다. 좌표계를 통째로 갈아엎었어요. 이건 따로 이야기하겠습니다.</a:t>
            </a:r>
          </a:p>
          <a:p/>
          <a:p>
            <a:r>
              <a:t>마지막 열흘은 원반을 진짜처럼 보이게 만드는 데 썼고, 6월 22일에 8K 최종 이미지를 뽑으면서 마무리했습니다.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제가 이 프로젝트에서 배운 가장 중요한 교훈입니다.</a:t>
            </a:r>
          </a:p>
          <a:p/>
          <a:p>
            <a:r>
              <a:t>물리 시뮬레이션에서 제일 위험한 건 뭘까요? 프로그램이 죽는 게 아닙니다. 틀렸는데 그럴듯해 보이는 결과가 나오는 겁니다. 그러면 아무도 못 알아채요.</a:t>
            </a:r>
          </a:p>
          <a:p/>
          <a:p>
            <a:r>
              <a:t>그래서 저는 그림을 보고 판단하지 않기로 했습니다. 대신 숫자로 검증했습니다.</a:t>
            </a:r>
          </a:p>
          <a:p/>
          <a:p>
            <a:r>
              <a:t>이론적으로, 빛이 블랙홀 주변을 지나갈 때 절대 변하면 안 되는 값이 세 개 있습니다. 에너지, 각운동량, 그리고 카터 상수라는 값입니다. 제 계산기가 정확하다면 빛이 아무리 휘어져도 이 세 값은 그대로 유지되어야 합니다.</a:t>
            </a:r>
          </a:p>
          <a:p/>
          <a:p>
            <a:r>
              <a:t>그래서 이걸 자동으로 검사하는 테스트를 먼저 만들었습니다. 그림이 아무리 멋져도 이 숫자가 흔들리면 코드가 틀린 겁니다.</a:t>
            </a:r>
          </a:p>
          <a:p/>
          <a:p>
            <a:r>
              <a:t>실제로 이 테스트가 눈으로는 절대 못 잡았을 버그를 여러 번 잡아줬습니다.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제일 크게 데인 사건입니다.</a:t>
            </a:r>
          </a:p>
          <a:p/>
          <a:p>
            <a:r>
              <a:t>좌표계라는 건 공간에 주소를 매기는 방식입니다. 지구를 위도·경도로 나타낼 수도 있고, 그냥 3차원 x, y, z로 나타낼 수도 있죠. 어느 쪽을 써도 지구는 똑같습니다.</a:t>
            </a:r>
          </a:p>
          <a:p/>
          <a:p>
            <a:r>
              <a:t>그런데 위도·경도에는 함정이 있습니다. 북극에 가면 경도가 의미가 없어지죠. 한 점에서 모든 경도가 만나니까요.</a:t>
            </a:r>
          </a:p>
          <a:p/>
          <a:p>
            <a:r>
              <a:t>제가 처음 쓴 좌표계에도 똑같은 문제가 있었습니다. 블랙홀의 사건의 지평선 근처에 가면 수식의 분모가 0에 가까워집니다. 컴퓨터는 소수점을 유한한 자리수로만 저장하기 때문에, 아주 큰 수에서 아주 큰 수를 빼면 정밀도가 완전히 날아가 버립니다.</a:t>
            </a:r>
          </a:p>
          <a:p/>
          <a:p>
            <a:r>
              <a:t>문제는 블랙홀 바로 옆이 제일 재미있는 부분이라는 거예요. 하필 거기서 계산이 무너진 겁니다.</a:t>
            </a:r>
          </a:p>
          <a:p/>
          <a:p>
            <a:r>
              <a:t>그래서 6월 7일에 좌표계를 통째로 바꿨습니다. 지평선에서 아무 문제가 없는 좌표계로요. 같은 블랙홀, 같은 물리인데 지도만 바꾼 겁니다. 그런데 코드의 거의 모든 수식을 다시 써야 해서 하루를 통째로 썼습니다.</a:t>
            </a:r>
          </a:p>
          <a:p/>
          <a:p>
            <a:r>
              <a:t>배운 것: 좌표계는 취향 문제가 아니라 설계 결정이라는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이건 좀 웃픈 이야기입니다.</a:t>
            </a:r>
          </a:p>
          <a:p/>
          <a:p>
            <a:r>
              <a:t>GPU에서 돌아가는 코드는 실행하기 전에 기계어로 번역을 해야 합니다. 컴파일이라고 하죠. 그런데 제 코드가 워낙 복잡해지다 보니, 이 번역에만 최대 27분이 걸렸습니다.</a:t>
            </a:r>
          </a:p>
          <a:p/>
          <a:p>
            <a:r>
              <a:t>문제는 이 번역 작업을 CPU가 한다는 겁니다. 그래서 작업 관리자를 열어보면 GPU 사용률이 0%로 나와요.</a:t>
            </a:r>
          </a:p>
          <a:p/>
          <a:p>
            <a:r>
              <a:t>처음에 저는 이걸 보고 프로그램이 무한 루프에 빠져서 멈춘 줄 알았습니다. 그래서 몇 번이나 강제 종료했어요. 알고 보니 열심히 번역하는 중이었던 거죠. 조금만 더 기다렸으면 됐는데.</a:t>
            </a:r>
          </a:p>
          <a:p/>
          <a:p>
            <a:r>
              <a:t>한번 번역이 끝나고 나면 한 프레임 그리는 데는 0.15초밖에 안 걸립니다. 어이없죠.</a:t>
            </a:r>
          </a:p>
          <a:p/>
          <a:p>
            <a:r>
              <a:t>결국 번역 결과를 파일로 저장해 뒀다가 다음에 재사용하도록 고쳐서, 27분을 4분 정도로 줄였습니다.</a:t>
            </a:r>
          </a:p>
          <a:p/>
          <a:p>
            <a:r>
              <a:t>교훈이라면, 느린 것과 멈춘 것을 구분하려면 뭐가 일하고 있는지를 알아야 한다는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외에도 며칠씩 잡아먹은 버그들이 많았습니다. 몇 개만 소개하면요.</a:t>
            </a:r>
          </a:p>
          <a:p/>
          <a:p>
            <a:r>
              <a:t>첫째, 원반 정중앙 축에서 좌표 계산이 터지면서 화면에 검은 점이 찍혔습니다. 아까 말한 북극 문제랑 비슷한 거예요.</a:t>
            </a:r>
          </a:p>
          <a:p/>
          <a:p>
            <a:r>
              <a:t>둘째, 각도가 360도에서 0도로 넘어가는 지점에 선명한 세로줄이 생겼습니다. 이음새가 보인 거죠.</a:t>
            </a:r>
          </a:p>
          <a:p/>
          <a:p>
            <a:r>
              <a:t>셋째, 배경의 별들이 점이 아니라 줄무늬로 번져 보였습니다. 별을 큰 사진 파일에서 읽어오는 방식이었는데, 빛이 심하게 휘면서 사진이 늘어난 거예요. 결국 별 하나하나의 위치를 목록으로 갖고 직접 찍는 방식으로 바꿨습니다.</a:t>
            </a:r>
          </a:p>
          <a:p/>
          <a:p>
            <a:r>
              <a:t>넷째, 모션 블러를 넣었더니 깊이 정보가 망가져서, 우주선이 블랙홀 뒤로 들어가야 하는데 앞으로 튀어나왔습니다.</a:t>
            </a:r>
          </a:p>
          <a:p/>
          <a:p>
            <a:r>
              <a:t>다섯째, 원반을 정면에서 볼 때만 물결무늬가 생겼습니다. 빛이 원반을 지나갈 때 너무 성기게 계산해서 생긴 문제였어요.</a:t>
            </a:r>
          </a:p>
          <a:p/>
          <a:p>
            <a:r>
              <a:t>이런 걸 하나씩 잡는 게 사실 개발의 대부분이었습니다.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물리를 다 맞게 넣었는데도, 처음 나온 원반은 어딘가 가짜 같았습니다.</a:t>
            </a:r>
          </a:p>
          <a:p/>
          <a:p>
            <a:r>
              <a:t>이유는 너무 매끄러웠기 때문이에요. 온도와 속도만 계산하면 원반이 그냥 부드러운 그라데이션이 됩니다. 딱 봐도 CG 티가 나죠.</a:t>
            </a:r>
          </a:p>
          <a:p/>
          <a:p>
            <a:r>
              <a:t>실제 블랙홀 주변의 가스는 엄청난 난류로 들끓고 있습니다. 그래서 프랙탈 잡음이라는 걸 써서 밀도와 온도에 자연스러운 얼룩을 만들어 줬습니다.</a:t>
            </a:r>
          </a:p>
          <a:p/>
          <a:p>
            <a:r>
              <a:t>그리고 중요한 게, 원반 안쪽이 바깥쪽보다 훨씬 빨리 돕니다. 그래서 얼룩이 그냥 있는 게 아니라 나선형으로 쭉쭉 늘어나야 해요. 이걸 전단이라고 하는데, 그 효과도 넣었습니다.</a:t>
            </a:r>
          </a:p>
          <a:p/>
          <a:p>
            <a:r>
              <a:t>마지막으로 먼지는 빛을 가리기도 하고 흩뿌리기도 합니다. 그래서 안쪽의 뜨거운 가스가 바깥 원반에 그림자를 드리우고, 가장자리에는 빛 테두리가 생깁니다.</a:t>
            </a:r>
          </a:p>
          <a:p/>
          <a:p>
            <a:r>
              <a:t>이 부분이 사실 전체 개발 기간의 절반 가까이를 잡아먹었습니다.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최종 결과입니다. 7680 x 4320, 8K 해상도입니다.</a:t>
            </a:r>
          </a:p>
          <a:p/>
          <a:p>
            <a:r>
              <a:t>다시 한번 강조하고 싶은 건, 이 그림 안의 어떤 형태도 제가 손으로 그리지 않았다는 겁니다.</a:t>
            </a:r>
          </a:p>
          <a:p/>
          <a:p>
            <a:r>
              <a:t>가운데 검은 원, 그 둘레의 밝은 고리, 위로 휘어 올라간 원반, 오른쪽이 더 밝은 것, 배경 별이 늘어난 것 — 전부 다 아인슈타인의 방정식을 컴퓨터가 푼 결과입니다.</a:t>
            </a:r>
          </a:p>
          <a:p/>
          <a:p>
            <a:r>
              <a:t>저는 물리 법칙과 카메라 위치만 알려줬습니다.</a:t>
            </a:r>
          </a:p>
          <a:p/>
          <a:p>
            <a:r>
              <a:t>잠시 보시죠.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그러면 이 그림이 물리적으로 맞다고 어떻게 확신할 수 있을까요? 다섯 가지 근거를 정리했습니다.</a:t>
            </a:r>
          </a:p>
          <a:p/>
          <a:p>
            <a:r>
              <a:t>첫째, 광자 링. 블랙홀 둘레의 저 얇고 밝은 고리는, 빛이 블랙홀 주위를 여러 바퀴 돌고 겨우 탈출한 흔적입니다. 이건 이론에서 예측된 위치에 정확히 나타납니다.</a:t>
            </a:r>
          </a:p>
          <a:p/>
          <a:p>
            <a:r>
              <a:t>둘째, 도플러 비대칭. 오른쪽이 왼쪽보다 4.3배 밝은데, 이건 이론값과 일치합니다.</a:t>
            </a:r>
          </a:p>
          <a:p/>
          <a:p>
            <a:r>
              <a:t>셋째, 원반이 위아래로 휘어 보이는 것. 중력 렌즈 때문에 뒷면과 밑면이 동시에 보이는 겁니다.</a:t>
            </a:r>
          </a:p>
          <a:p/>
          <a:p>
            <a:r>
              <a:t>넷째, 원반의 안쪽 끝이 정확히 1.18M에서 시작합니다. 이건 제가 정한 게 아니라 회전값 0.999에서 계산되어 나온 값입니다.</a:t>
            </a:r>
          </a:p>
          <a:p/>
          <a:p>
            <a:r>
              <a:t>다섯째, 아까 말한 보존량 테스트를 통과했습니다.</a:t>
            </a:r>
          </a:p>
          <a:p/>
          <a:p>
            <a:r>
              <a:t>그래서 저는 이렇게 말하고 싶습니다. 이 그림은 예뻐서 맞는 게 아니라, 맞아서 예쁜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배운 점 세 가지입니다.</a:t>
            </a:r>
          </a:p>
          <a:p/>
          <a:p>
            <a:r>
              <a:t>물리에서는, 수식이 진짜 그림이 된다는 걸 배웠습니다. 교과서에 있는 그 방정식을 컴퓨터에 넣었더니, 실제 블랙홀의 모습이 나왔습니다. 물리가 그냥 시험용 기호가 아니라 세상을 진짜로 예측하는 도구라는 걸 눈으로 확인했습니다.</a:t>
            </a:r>
          </a:p>
          <a:p/>
          <a:p>
            <a:r>
              <a:t>프로그래밍에서는, 검증 없는 코드는 예쁜 버그일 뿐이라는 걸 배웠습니다. 결과가 그럴듯해 보일 때가 제일 위험합니다.</a:t>
            </a:r>
          </a:p>
          <a:p/>
          <a:p>
            <a:r>
              <a:t>그리고 태도에 대해서. 틀린 걸 예쁘게 만드는 건 쉽습니다. 어려운 건 맞는 걸 만드는 겁니다. 저는 중간중간 '그냥 대충 이렇게 칠하면 비슷해 보이는데'라는 유혹을 여러 번 받았어요. 그런데 정확한 쪽을 택할 때마다, 결국 더 좋은 그림으로 돌아왔습니다.</a:t>
            </a:r>
          </a:p>
          <a:p/>
          <a:p>
            <a:r>
              <a:t>저는 프로그래밍과 AI 쪽으로 진로를 생각하고 있는데, 이 프로젝트를 하면서 물리와 프로그래밍이 이렇게까지 붙어 있다는 걸 처음 실감했습니다.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이상으로 발표를 마치겠습니다. 감사합니다.</a:t>
            </a:r>
          </a:p>
          <a:p/>
          <a:p>
            <a:r>
              <a:t>예상 질문 대비:</a:t>
            </a:r>
          </a:p>
          <a:p/>
          <a:p>
            <a:r>
              <a:t>Q. 계산에 얼마나 걸리나요?</a:t>
            </a:r>
          </a:p>
          <a:p>
            <a:r>
              <a:t>A. 코드를 GPU용으로 번역하는 데 처음 한 번 몇 분이 걸리고, 그 뒤로는 한 프레임에 0.15초 정도입니다.</a:t>
            </a:r>
          </a:p>
          <a:p/>
          <a:p>
            <a:r>
              <a:t>Q. 실제 블랙홀 사진(EHT)과 비교하면?</a:t>
            </a:r>
          </a:p>
          <a:p>
            <a:r>
              <a:t>A. EHT가 찍은 M87 블랙홀은 전파로 찍은 거라 훨씬 흐릿합니다. 제 것은 '만약 사람 눈으로 아주 가까이서 볼 수 있다면' 어떻게 보일지를 계산한 겁니다.</a:t>
            </a:r>
          </a:p>
          <a:p/>
          <a:p>
            <a:r>
              <a:t>Q. 인터스텔라랑 뭐가 다른가요?</a:t>
            </a:r>
          </a:p>
          <a:p>
            <a:r>
              <a:t>A. 원리는 같습니다. 다만 인터스텔라는 영화용이라 도플러 효과를 일부러 껐어요. 한쪽만 밝으면 관객이 헷갈릴까 봐요. 저는 그걸 켰습니다.</a:t>
            </a:r>
          </a:p>
          <a:p/>
          <a:p>
            <a:r>
              <a:t>Q. 블랙홀이 정말 저렇게 생겼나요?</a:t>
            </a:r>
          </a:p>
          <a:p>
            <a:r>
              <a:t>A. 계산상으로는 그렇습니다. 다만 실제로 저만큼 가까이 간 사람은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77639"/>
            <a:ext cx="12191695" cy="2880360"/>
          </a:xfrm>
          <a:prstGeom prst="rect">
            <a:avLst/>
          </a:prstGeom>
          <a:solidFill>
            <a:srgbClr val="0B0C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 lang="ko-KR" altLang="en-US" spc="20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일반상대성이론 · GPU 광선 추적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617720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블랙홀을 계산해서 그렸습니다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04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lang="ko-KR" altLang="en-US">
                <a:solidFill>
                  <a:srgbClr val="C9C5BC"/>
                </a:solidFill>
                <a:latin typeface="Malgun Gothic"/>
                <a:ea typeface="맑은 고딕"/>
                <a:cs typeface="Malgun Gothic"/>
              </a:rPr>
              <a:t>빛이 지나온 길을 하나하나 풀어서 만든 회전 블랙홀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물리 발표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오늘 발표할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lang="ko-KR" altLang="en-US">
                <a:solidFill>
                  <a:srgbClr val="3A3D48"/>
                </a:solidFill>
                <a:latin typeface="Malgun Gothic"/>
                <a:ea typeface="맑은 고딕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" y="1856231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왜 만들었나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4792" y="225856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그럴듯한 그림 말고, 계산된 그림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3405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lang="ko-KR" altLang="en-US">
                <a:solidFill>
                  <a:srgbClr val="3A3D48"/>
                </a:solidFill>
                <a:latin typeface="Malgun Gothic"/>
                <a:ea typeface="맑은 고딕"/>
                <a:cs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27157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핵심 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3118103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빛을 거꾸로 쫓아가기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93591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lang="ko-KR" altLang="en-US">
                <a:solidFill>
                  <a:srgbClr val="3A3D48"/>
                </a:solidFill>
                <a:latin typeface="Malgun Gothic"/>
                <a:ea typeface="맑은 고딕"/>
                <a:cs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3575303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블랙홀의 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3977639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휘어진 시공간 · 회전 · 도플러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53127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lang="ko-KR" altLang="en-US">
                <a:solidFill>
                  <a:srgbClr val="3A3D48"/>
                </a:solidFill>
                <a:latin typeface="Malgun Gothic"/>
                <a:ea typeface="맑은 고딕"/>
                <a:cs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4348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만드는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4837175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3단계 파이프라인, 그리고 시행착오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312663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lang="ko-KR" altLang="en-US">
                <a:solidFill>
                  <a:srgbClr val="3A3D48"/>
                </a:solidFill>
                <a:latin typeface="Malgun Gothic"/>
                <a:ea typeface="맑은 고딕"/>
                <a:cs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5294375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결과와 배운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01  왜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대부분의 블랙홀 그림은 물리가 아니라 그림입니다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0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영화나 일러스트 속 블랙홀은 사람이 그린 겁니다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예술가가 그럴듯해 보이도록 손으로 칠한 것이죠</a:t>
            </a:r>
          </a:p>
          <a:p>
            <a:pPr marL="274320" indent="0">
              <a:lnSpc>
                <a:spcPct val="142000"/>
              </a:lnSpc>
              <a:spcBef>
                <a:spcPts val="170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저는 '계산한' 블랙홀이 보고 싶었습니다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픽셀 하나하나가 실제 빛의 경로를 푼 결과였으면 했어요</a:t>
            </a:r>
          </a:p>
          <a:p>
            <a:pPr marL="274320" indent="0">
              <a:lnSpc>
                <a:spcPct val="142000"/>
              </a:lnSpc>
              <a:spcBef>
                <a:spcPts val="170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그래서 물리 법칙만 넣기로 했습니다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빛의 휘어짐도, 밝기 차이도, 원반의 뒤틀림도 따로 그리지 않았습니다</a:t>
            </a:r>
          </a:p>
        </p:txBody>
      </p:sp>
      <p:pic>
        <p:nvPicPr>
          <p:cNvPr id="7" name="Picture 6" descr="hero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83080"/>
            <a:ext cx="4114800" cy="3090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49834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직접 렌더링한 결과입니다. 이 안의 모든 형태는
손으로 그린 게 아니라, 아인슈타인 방정식을
풀었더니 저절로 나온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02  핵심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빛을 거꾸로 쫓아갑니다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화면의 픽셀마다 광선을 하나씩 쏘고, 그 빛이 어디서 왔는지 되짚어 갑니다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ay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847088"/>
            <a:ext cx="969264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03  블랙홀의 물리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빛은 똑바로 갑니다. 공간이 휘어 있을 뿐이죠.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0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중력은 당기는 힘이 아닙니다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질량이 시공간을 휘게 만들고, 빛은 그 휘어진 길을 따라갈 뿐이에요</a:t>
            </a:r>
          </a:p>
          <a:p>
            <a:pPr marL="274320" indent="0">
              <a:lnSpc>
                <a:spcPct val="142000"/>
              </a:lnSpc>
              <a:spcBef>
                <a:spcPts val="170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이 가장 곧은 길을 측지선이라고 합니다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제 프로그램도 결국 이 측지선을 계산하는 겁니다</a:t>
            </a:r>
          </a:p>
          <a:p>
            <a:pPr marL="274320" indent="0">
              <a:lnSpc>
                <a:spcPct val="142000"/>
              </a:lnSpc>
              <a:spcBef>
                <a:spcPts val="1700"/>
              </a:spcBef>
              <a:spcAft>
                <a:spcPts val="20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6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그래서 블랙홀 뒤의 별이 보입니다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빛이 블랙홀을 돌아 나오니까, 가려진 것까지 보입니다</a:t>
            </a:r>
          </a:p>
        </p:txBody>
      </p:sp>
      <p:pic>
        <p:nvPicPr>
          <p:cNvPr id="7" name="Picture 6" descr="len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47088"/>
            <a:ext cx="5212080" cy="32552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23036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원반을 끄고 렌더링한 결과입니다. 뒤쪽 은하수가 블랙홀 둘레를 따라
둥글게 끌려 늘어나 있죠. 이게 바로 중력 렌즈 효과입니다.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03  블랙홀의 물리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회전이 모든 걸 바꿉니다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제가 만든 블랙홀은 이론상 가능한 최대 회전의 99.9%로 돌고 있습니다  (a = 0.999)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74519"/>
            <a:ext cx="10058400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03  블랙홀의 물리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왜 한쪽만 밝을까요?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dopp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5648"/>
            <a:ext cx="667512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874519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원반의 가스는 빛의 속도에 가깝게 돕니다.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697480"/>
            <a:ext cx="4023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우리 쪽으로 다가오는 쪽은 빛이 앞으로 몰려서 훨씬 밝아지고, 멀어지는 쪽은 어두워집니다. 밝기 차이는 속도의 네제곱에 비례합니다.</a:t>
            </a:r>
          </a:p>
        </p:txBody>
      </p:sp>
      <p:pic>
        <p:nvPicPr>
          <p:cNvPr id="9" name="Picture 8" descr="hero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77639"/>
            <a:ext cx="4023360" cy="2011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43800" y="60533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실제 렌더입니다. 오른쪽이 왼쪽보다 약 4.3배 밝습니다.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03  블랙홀의 물리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원반이 위로 휘어 보이는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len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6751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2920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우리 쪽으로 오는 빛이 블랙홀 위를 넘어오면서,
블랙홀에 가려져 있어야 할 원반의 '뒤쪽'을 보여줍니다.</a:t>
            </a:r>
          </a:p>
        </p:txBody>
      </p:sp>
      <p:pic>
        <p:nvPicPr>
          <p:cNvPr id="8" name="Picture 7" descr="di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783080"/>
            <a:ext cx="4160520" cy="2596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4590288"/>
            <a:ext cx="4160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원반은 그냥 평평한 접시입니다.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그런데 블랙홀 뒤쪽 절반의 빛이 위로 휘어 올라와 도착하니까, 접시가 마치 위로 접힌 것처럼 보이는 겁니다. 아래쪽 호는 원반의 밑면이고요.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만드는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3단계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65960"/>
            <a:ext cx="987552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2578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2단계가 이 프로젝트의 심장입니다. 빛의 경로를 푸는 데 픽셀 하나당 수천 번씩 계산해야 하는데, CPU로는 도저히 감당이 안 돼서 GPU에서 한꺼번에 돌렸습니다.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만드는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24일, 26번의 커밋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57400"/>
            <a:ext cx="1129284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만드는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'예뻐 보인다'는 증명이 아닙니다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물리 시뮬레이션에서 제일 위험한 건, 틀렸는데 그럴듯해 보이는 결과입니다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5740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57400"/>
            <a:ext cx="45720" cy="1371600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7685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E, L,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8986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빛이 움직이는 동안 반드시
일정하게 유지되어야 하는 세 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05740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57400"/>
            <a:ext cx="45720" cy="1371600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27685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lang="ko-KR" altLang="en-US">
                <a:solidFill>
                  <a:srgbClr val="63C9A8"/>
                </a:solidFill>
                <a:latin typeface="Malgun Gothic"/>
                <a:ea typeface="맑은 고딕"/>
                <a:cs typeface="Malgun Gothic"/>
              </a:rPr>
              <a:t>골든 이미지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986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코드를 고칠 때마다 예전 그림과
픽셀 단위로 비교했습니다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205740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2057400"/>
            <a:ext cx="45720" cy="1371600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27685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 lang="ko-KR" altLang="en-US">
                <a:solidFill>
                  <a:srgbClr val="5FA8FF"/>
                </a:solidFill>
                <a:latin typeface="Malgun Gothic"/>
                <a:ea typeface="맑은 고딕"/>
                <a:cs typeface="Malgun Gothic"/>
              </a:rPr>
              <a:t>공식 원본 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9864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공식은 문서 한 곳에서만 가져다 쓰고,
다시 유도하지 않았습니다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77639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그림이 그럴듯해 보인다고 물리가 맞는 건 아닙니다.</a:t>
            </a:r>
          </a:p>
          <a:p>
            <a:pPr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그래서 그림을 보기 전에 숫자로 먼저 검증했습니다. 빛이 휘어진 공간을 지나가는 동안 에너지·각운동량·카터 상수, 이 세 값은 이론적으로 절대 변하면 안 됩니다. 계산 도중에 이 값이 흔들리면, 그림이 아무리 예뻐도 코드가 틀린 겁니다.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실제로 이 테스트 덕분에, 눈으로는 전혀 알아챌 수 없었던 버그를 여러 번 잡았습니다.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시행착오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좌표계를 통째로 갈아엎었습니다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6월 7일 — 렌더러의 심장부를 처음부터 다시 썼습니다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5120640" cy="306324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011680"/>
            <a:ext cx="45720" cy="306324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28600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FF6B5C"/>
                </a:solidFill>
                <a:latin typeface="Malgun Gothic"/>
                <a:ea typeface="맑은 고딕"/>
                <a:cs typeface="Malgun Gothic"/>
              </a:rPr>
              <a:t>문제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원래 쓰던 좌표계는 사건의 지평선 근처에서 수식의 분모가 0에 가까워졌습니다.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0으로 나누기 직전의 값끼리 서로 상쇄되면서, 컴퓨터의 소수점 정밀도로는 답이 완전히 망가졌어요. 하필 제일 재미있는 부분인 블랙홀 바로 옆에서 계산이 무너진 겁니다.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011680"/>
            <a:ext cx="5120640" cy="306324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2011680"/>
            <a:ext cx="45720" cy="3063240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228600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63C9A8"/>
                </a:solidFill>
                <a:latin typeface="Malgun Gothic"/>
                <a:ea typeface="맑은 고딕"/>
                <a:cs typeface="Malgun Gothic"/>
              </a:rPr>
              <a:t>해결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지평선 근처에서도 문제가 없는 좌표계로 렌더러 전체를 옮겼습니다.</a:t>
            </a:r>
          </a:p>
          <a:p>
            <a:pPr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같은 블랙홀, 같은 물리입니다. 지도만 바꾼 거죠. 대신 거의 모든 수식을 다시 써야 했고, 꼬박 하루가 걸렸습니다.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 i="0" lang="ko-KR" altLang="en-US">
                <a:solidFill>
                  <a:srgbClr val="63C9A8"/>
                </a:solidFill>
                <a:latin typeface="Malgun Gothic"/>
                <a:ea typeface="맑은 고딕"/>
                <a:cs typeface="Malgun Gothic"/>
              </a:rPr>
              <a:t>배운 것 — 좌표계는 취향이 아니라 설계 결정입니다.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시행착오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27분 동안 GPU는 놀고 있었습니다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45720" cy="1371600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3113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lang="ko-KR" altLang="en-US">
                <a:solidFill>
                  <a:srgbClr val="FF6B5C"/>
                </a:solidFill>
                <a:latin typeface="Malgun Gothic"/>
                <a:ea typeface="맑은 고딕"/>
                <a:cs typeface="Malgun Gothic"/>
              </a:rPr>
              <a:t>27분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52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GPU 코드를 기계어로 번역하는 데
걸린 시간 (최악의 경우)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01168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011680"/>
            <a:ext cx="45720" cy="1371600"/>
          </a:xfrm>
          <a:prstGeom prst="rect">
            <a:avLst/>
          </a:prstGeom>
          <a:solidFill>
            <a:srgbClr val="B5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3113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lang="ko-KR" altLang="en-US">
                <a:solidFill>
                  <a:srgbClr val="B58CFF"/>
                </a:solidFill>
                <a:latin typeface="Malgun Gothic"/>
                <a:ea typeface="맑은 고딕"/>
                <a:cs typeface="Malgun Gothic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52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그동안 표시된 GPU 사용률
고장인 줄 알았습니다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1" y="2011680"/>
            <a:ext cx="3429000" cy="13716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2011680"/>
            <a:ext cx="45720" cy="1371600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231136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lang="ko-KR" altLang="en-US">
                <a:solidFill>
                  <a:srgbClr val="63C9A8"/>
                </a:solidFill>
                <a:latin typeface="Malgun Gothic"/>
                <a:ea typeface="맑은 고딕"/>
                <a:cs typeface="Malgun Gothic"/>
              </a:rPr>
              <a:t>0.15초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852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번역만 끝나고 나면
한 프레임 그리는 데 걸리는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고장 난 게 아니라, 번역 중이었습니다.</a:t>
            </a:r>
          </a:p>
          <a:p>
            <a:pPr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GPU에서 돌릴 코드는 실행 전에 기계어로 번역(컴파일)해야 하는데, 이 작업은 CPU가 합니다. 그래서 GPU 사용률이 0%로 보이는 거예요. 처음엔 무한 루프에 빠진 줄 알고 몇 번이나 강제 종료했습니다.</a:t>
            </a:r>
          </a:p>
          <a:p>
            <a:pPr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번역 결과를 저장해 뒀다가 재사용하도록 고쳐서, 27분을 4분 정도로 줄였습니다.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시행착오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그 밖에 부딪힌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커밋 기록에 남아 있는, 며칠씩 잡아먹은 문제들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139696"/>
            <a:ext cx="128016" cy="12801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극점 관통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6829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원반 정중앙 축에서 좌표가 튀면서 화면에 검은 점이 찍혔습니다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935224"/>
            <a:ext cx="128016" cy="128016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5292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원반의 이음새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6382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각도가 360도에서 0도로 돌아오는 지점에 선명한 세로줄이 생겼습니다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730752"/>
            <a:ext cx="128016" cy="128016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48456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배경 별이 줄무늬로 번짐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593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별을 사진에서 읽어오다 보니 늘어나 보였어요 — 별 하나하나를 직접 찍는 방식으로 바꿨습니다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526280"/>
            <a:ext cx="128016" cy="128016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43984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모션 블러가 깊이 정보를 망가뜨림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우주선이 블랙홀 뒤로 들어가야 하는데 합성하면 앞으로 튀어나왔습니다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321808"/>
            <a:ext cx="128016" cy="128016"/>
          </a:xfrm>
          <a:prstGeom prst="rect">
            <a:avLst/>
          </a:prstGeom>
          <a:solidFill>
            <a:srgbClr val="B5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3951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정면에서 볼 때만 생기는 물결무늬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5040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원반을 통과하는 계산 간격이 너무 성겨서, 특정 각도에서만 무늬가 나타났습니다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04  만드는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매끈한 원반이 가짜처럼 보이는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5852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0">
              <a:lnSpc>
                <a:spcPct val="14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물리는 다 맞는데도 어딘가 어색했습니다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온도와 속도만 계산한 원반은 너무 매끄러워서 딱 CG 티가 났어요</a:t>
            </a:r>
          </a:p>
          <a:p>
            <a:pPr marL="274320" indent="0">
              <a:lnSpc>
                <a:spcPct val="142000"/>
              </a:lnSpc>
              <a:spcBef>
                <a:spcPts val="1400"/>
              </a:spcBef>
              <a:spcAft>
                <a:spcPts val="200"/>
              </a:spcAft>
            </a:pPr>
            <a:r>
              <a:rPr sz="155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실제 가스는 난류로 들끓고 있습니다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그래서 프랙탈 잡음으로 밀도와 온도에 자연스러운 얼룩을 만들어 줬습니다</a:t>
            </a:r>
          </a:p>
          <a:p>
            <a:pPr marL="274320" indent="0">
              <a:lnSpc>
                <a:spcPct val="142000"/>
              </a:lnSpc>
              <a:spcBef>
                <a:spcPts val="1400"/>
              </a:spcBef>
              <a:spcAft>
                <a:spcPts val="200"/>
              </a:spcAft>
            </a:pPr>
            <a:r>
              <a:rPr sz="155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안쪽이 바깥쪽보다 빨리 돕니다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 속도 차이가 얼룩을 나선형으로 잡아당기도록 했습니다 (전단)</a:t>
            </a:r>
          </a:p>
          <a:p>
            <a:pPr marL="274320" indent="0">
              <a:lnSpc>
                <a:spcPct val="142000"/>
              </a:lnSpc>
              <a:spcBef>
                <a:spcPts val="1400"/>
              </a:spcBef>
              <a:spcAft>
                <a:spcPts val="200"/>
              </a:spcAft>
            </a:pPr>
            <a:r>
              <a:rPr sz="155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— </a:t>
            </a: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먼지는 빛을 가리기도, 흩뿌리기도 합니다</a:t>
            </a:r>
          </a:p>
          <a:p>
            <a:pPr marL="566928" indent="0">
              <a:lnSpc>
                <a:spcPct val="142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그래서 안쪽의 뜨거운 가스가 바깥 원반에 그림자를 드리웁니다</a:t>
            </a:r>
          </a:p>
        </p:txBody>
      </p:sp>
      <p:pic>
        <p:nvPicPr>
          <p:cNvPr id="7" name="Picture 6" descr="di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874519"/>
            <a:ext cx="4206240" cy="2624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46177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난류·전단·산란을 모두 켠 원반입니다. 매끈한 원반과 달리
실제 가스처럼 얼룩지고 흐트러져 있죠.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864608"/>
            <a:ext cx="12191695" cy="1993392"/>
          </a:xfrm>
          <a:prstGeom prst="rect">
            <a:avLst/>
          </a:prstGeom>
          <a:solidFill>
            <a:srgbClr val="0B0C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0840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8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05 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9496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최종 결과 — 8K 렌더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436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 lang="ko-KR" altLang="en-US">
                <a:solidFill>
                  <a:srgbClr val="C9C5BC"/>
                </a:solidFill>
                <a:latin typeface="Malgun Gothic"/>
                <a:ea typeface="맑은 고딕"/>
                <a:cs typeface="Malgun Gothic"/>
              </a:rPr>
              <a:t>이 그림 안에 손으로 그린 건 하나도 없습니다. 전부 계산해서 나온 것입니다.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05 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이 그림이 물리적으로 맞다고 말할 수 있는 근거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29968"/>
            <a:ext cx="128016" cy="128016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38528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광자 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블랙홀 둘레의 밝은 고리는 빛이 여러 바퀴 돌고 겨우 탈출한 흔적입니다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88920"/>
            <a:ext cx="128016" cy="128016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도플러 비대칭 4.3배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0837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밝기 차이를 손으로 칠하지 않았는데도 이론값대로 나왔습니다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547872"/>
            <a:ext cx="128016" cy="128016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원반의 위·아래 휘어짐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6732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중력 렌즈 때문에 뒷면과 밑면이 동시에 보입니다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306824"/>
            <a:ext cx="128016" cy="128016"/>
          </a:xfrm>
          <a:prstGeom prst="rect">
            <a:avLst/>
          </a:prstGeom>
          <a:solidFill>
            <a:srgbClr val="B5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ISCO 1.18M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회전값 0.999에서 계산되어 나온 값인데, 원반의 안쪽 끝이 정확히 거기서 시작합니다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65776"/>
            <a:ext cx="128016" cy="128016"/>
          </a:xfrm>
          <a:prstGeom prst="rect">
            <a:avLst/>
          </a:prstGeom>
          <a:solidFill>
            <a:srgbClr val="F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974336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보존량 테스트 통과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빛이 지나가는 동안 E, L, Q가 유지되는 걸 숫자로 확인했습니다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2531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ko-KR" altLang="en-US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예뻐서 맞는 게 아니라, 맞아서 예쁜 겁니다.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05  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76656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이 프로젝트에서 배운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1051560" cy="41148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3429000" cy="34290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2011680"/>
            <a:ext cx="3429000" cy="45720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ko-KR" altLang="en-US" spc="160">
                <a:solidFill>
                  <a:srgbClr val="E9A33C"/>
                </a:solidFill>
                <a:latin typeface="Malgun Gothic"/>
                <a:ea typeface="맑은 고딕"/>
                <a:cs typeface="Malgun Gothic"/>
              </a:rPr>
              <a:t>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수식이 그림이 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교과서에 있던 그 방정식을 컴퓨터에 넣었더니 진짜 블랙홀이 나왔습니다. 물리가 기호가 아니라 세상을 실제로 예측한다는 걸 눈으로 봤어요.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2011680"/>
            <a:ext cx="3429000" cy="34290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011680"/>
            <a:ext cx="3429000" cy="45720"/>
          </a:xfrm>
          <a:prstGeom prst="rect">
            <a:avLst/>
          </a:prstGeom>
          <a:solidFill>
            <a:srgbClr val="63C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ko-KR" altLang="en-US" spc="160">
                <a:solidFill>
                  <a:srgbClr val="63C9A8"/>
                </a:solidFill>
                <a:latin typeface="Malgun Gothic"/>
                <a:ea typeface="맑은 고딕"/>
                <a:cs typeface="Malgun Gothic"/>
              </a:rPr>
              <a:t>프로그래밍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검증 없는 코드는 예쁜 버그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그럴듯해 보이는 결과가 제일 위험합니다. 그림을 보기 전에 숫자로 먼저 확인하는 습관이 이 프로젝트를 살렸습니다.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2011680"/>
            <a:ext cx="3429000" cy="3429000"/>
          </a:xfrm>
          <a:prstGeom prst="rect">
            <a:avLst/>
          </a:prstGeom>
          <a:solidFill>
            <a:srgbClr val="15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2011680"/>
            <a:ext cx="3429000" cy="45720"/>
          </a:xfrm>
          <a:prstGeom prst="rect">
            <a:avLst/>
          </a:prstGeom>
          <a:solidFill>
            <a:srgbClr val="5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31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ko-KR" altLang="en-US" spc="160">
                <a:solidFill>
                  <a:srgbClr val="5FA8FF"/>
                </a:solidFill>
                <a:latin typeface="Malgun Gothic"/>
                <a:ea typeface="맑은 고딕"/>
                <a:cs typeface="Malgun Gothic"/>
              </a:rPr>
              <a:t>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어려운 건 맞게 만드는 일입니다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03320"/>
            <a:ext cx="2880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틀린 걸 예쁘게 만들기는 쉽습니다. 지름길이 보일 때마다 정확한 쪽을 택했는데, 그게 결국 더 좋은 그림으로 돌아왔습니다.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382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회전하는 블랙홀 렌더러  ·  물리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1183" y="63825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 lang="ko-KR" altLang="en-US">
                <a:solidFill>
                  <a:srgbClr val="4A4D58"/>
                </a:solidFill>
                <a:latin typeface="Malgun Gothic"/>
                <a:ea typeface="맑은 고딕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 lang="ko-KR" altLang="en-US">
                <a:solidFill>
                  <a:srgbClr val="F4F1EA"/>
                </a:solidFill>
                <a:latin typeface="Malgun Gothic"/>
                <a:ea typeface="맑은 고딕"/>
                <a:cs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 lang="ko-KR" altLang="en-US">
                <a:solidFill>
                  <a:srgbClr val="8E8E9A"/>
                </a:solidFill>
                <a:latin typeface="Malgun Gothic"/>
                <a:ea typeface="맑은 고딕"/>
                <a:cs typeface="Malgun Gothic"/>
              </a:rPr>
              <a:t>질문 받겠습니다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7207" y="3584448"/>
            <a:ext cx="1097280" cy="36576"/>
          </a:xfrm>
          <a:prstGeom prst="rect">
            <a:avLst/>
          </a:prstGeom>
          <a:solidFill>
            <a:srgbClr val="E9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